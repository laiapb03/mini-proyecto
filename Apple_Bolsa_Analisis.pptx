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5143500" cy="9144000"/>
  <p:custDataLst>
    <p:tags r:id="rId11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0934B1-8DAF-4615-A083-27135D4F465E}" v="64" dt="2026-09-17T14:43:46.1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a Perez Blazquez" userId="29b1bf0f-4dc1-43ac-b1e8-08f77456d5dc" providerId="ADAL" clId="{B0518BE0-ED72-44F6-B8BA-04068C37C50D}"/>
    <pc:docChg chg="undo custSel addSld delSld modSld sldOrd">
      <pc:chgData name="Laia Perez Blazquez" userId="29b1bf0f-4dc1-43ac-b1e8-08f77456d5dc" providerId="ADAL" clId="{B0518BE0-ED72-44F6-B8BA-04068C37C50D}" dt="2026-09-17T14:43:46.101" v="96" actId="47"/>
      <pc:docMkLst>
        <pc:docMk/>
      </pc:docMkLst>
      <pc:sldChg chg="addSp delSp modSp mod">
        <pc:chgData name="Laia Perez Blazquez" userId="29b1bf0f-4dc1-43ac-b1e8-08f77456d5dc" providerId="ADAL" clId="{B0518BE0-ED72-44F6-B8BA-04068C37C50D}" dt="2026-09-17T13:34:51.046" v="26" actId="20577"/>
        <pc:sldMkLst>
          <pc:docMk/>
          <pc:sldMk cId="0" sldId="256"/>
        </pc:sldMkLst>
        <pc:spChg chg="mod">
          <ac:chgData name="Laia Perez Blazquez" userId="29b1bf0f-4dc1-43ac-b1e8-08f77456d5dc" providerId="ADAL" clId="{B0518BE0-ED72-44F6-B8BA-04068C37C50D}" dt="2026-09-17T12:06:36.311" v="0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Laia Perez Blazquez" userId="29b1bf0f-4dc1-43ac-b1e8-08f77456d5dc" providerId="ADAL" clId="{B0518BE0-ED72-44F6-B8BA-04068C37C50D}" dt="2026-09-17T12:06:36.315" v="1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Laia Perez Blazquez" userId="29b1bf0f-4dc1-43ac-b1e8-08f77456d5dc" providerId="ADAL" clId="{B0518BE0-ED72-44F6-B8BA-04068C37C50D}" dt="2026-09-17T12:06:36.317" v="2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Laia Perez Blazquez" userId="29b1bf0f-4dc1-43ac-b1e8-08f77456d5dc" providerId="ADAL" clId="{B0518BE0-ED72-44F6-B8BA-04068C37C50D}" dt="2026-09-17T13:34:51.046" v="26" actId="20577"/>
          <ac:spMkLst>
            <pc:docMk/>
            <pc:sldMk cId="0" sldId="256"/>
            <ac:spMk id="8" creationId="{00000000-0000-0000-0000-000000000000}"/>
          </ac:spMkLst>
        </pc:spChg>
        <pc:picChg chg="add del">
          <ac:chgData name="Laia Perez Blazquez" userId="29b1bf0f-4dc1-43ac-b1e8-08f77456d5dc" providerId="ADAL" clId="{B0518BE0-ED72-44F6-B8BA-04068C37C50D}" dt="2026-09-17T12:10:02.752" v="5" actId="478"/>
          <ac:picMkLst>
            <pc:docMk/>
            <pc:sldMk cId="0" sldId="256"/>
            <ac:picMk id="9" creationId="{B60589E5-D747-59AF-A729-CE8CE0D46EB1}"/>
          </ac:picMkLst>
        </pc:picChg>
        <pc:picChg chg="add del mod">
          <ac:chgData name="Laia Perez Blazquez" userId="29b1bf0f-4dc1-43ac-b1e8-08f77456d5dc" providerId="ADAL" clId="{B0518BE0-ED72-44F6-B8BA-04068C37C50D}" dt="2026-09-17T12:10:23.870" v="8" actId="478"/>
          <ac:picMkLst>
            <pc:docMk/>
            <pc:sldMk cId="0" sldId="256"/>
            <ac:picMk id="11" creationId="{26359A5D-AEE6-C8E4-3576-04A18120999F}"/>
          </ac:picMkLst>
        </pc:picChg>
        <pc:picChg chg="add mod">
          <ac:chgData name="Laia Perez Blazquez" userId="29b1bf0f-4dc1-43ac-b1e8-08f77456d5dc" providerId="ADAL" clId="{B0518BE0-ED72-44F6-B8BA-04068C37C50D}" dt="2026-09-17T12:11:03.945" v="15" actId="1076"/>
          <ac:picMkLst>
            <pc:docMk/>
            <pc:sldMk cId="0" sldId="256"/>
            <ac:picMk id="12" creationId="{DB23D7CD-F38B-5727-42FD-4244BDA6B868}"/>
          </ac:picMkLst>
        </pc:picChg>
      </pc:sldChg>
      <pc:sldChg chg="modSp mod">
        <pc:chgData name="Laia Perez Blazquez" userId="29b1bf0f-4dc1-43ac-b1e8-08f77456d5dc" providerId="ADAL" clId="{B0518BE0-ED72-44F6-B8BA-04068C37C50D}" dt="2026-09-17T14:17:32.362" v="48" actId="20577"/>
        <pc:sldMkLst>
          <pc:docMk/>
          <pc:sldMk cId="0" sldId="257"/>
        </pc:sldMkLst>
        <pc:spChg chg="mod">
          <ac:chgData name="Laia Perez Blazquez" userId="29b1bf0f-4dc1-43ac-b1e8-08f77456d5dc" providerId="ADAL" clId="{B0518BE0-ED72-44F6-B8BA-04068C37C50D}" dt="2026-09-17T14:17:32.362" v="48" actId="20577"/>
          <ac:spMkLst>
            <pc:docMk/>
            <pc:sldMk cId="0" sldId="257"/>
            <ac:spMk id="21" creationId="{00000000-0000-0000-0000-000000000000}"/>
          </ac:spMkLst>
        </pc:spChg>
      </pc:sldChg>
      <pc:sldChg chg="del mod ord modShow">
        <pc:chgData name="Laia Perez Blazquez" userId="29b1bf0f-4dc1-43ac-b1e8-08f77456d5dc" providerId="ADAL" clId="{B0518BE0-ED72-44F6-B8BA-04068C37C50D}" dt="2026-09-17T14:43:46.101" v="96" actId="47"/>
        <pc:sldMkLst>
          <pc:docMk/>
          <pc:sldMk cId="0" sldId="259"/>
        </pc:sldMkLst>
      </pc:sldChg>
      <pc:sldChg chg="modSp mod">
        <pc:chgData name="Laia Perez Blazquez" userId="29b1bf0f-4dc1-43ac-b1e8-08f77456d5dc" providerId="ADAL" clId="{B0518BE0-ED72-44F6-B8BA-04068C37C50D}" dt="2026-09-17T14:17:19.687" v="32" actId="20577"/>
        <pc:sldMkLst>
          <pc:docMk/>
          <pc:sldMk cId="0" sldId="260"/>
        </pc:sldMkLst>
        <pc:spChg chg="mod">
          <ac:chgData name="Laia Perez Blazquez" userId="29b1bf0f-4dc1-43ac-b1e8-08f77456d5dc" providerId="ADAL" clId="{B0518BE0-ED72-44F6-B8BA-04068C37C50D}" dt="2026-09-17T14:17:19.687" v="32" actId="20577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Laia Perez Blazquez" userId="29b1bf0f-4dc1-43ac-b1e8-08f77456d5dc" providerId="ADAL" clId="{B0518BE0-ED72-44F6-B8BA-04068C37C50D}" dt="2026-09-17T14:17:24.051" v="33" actId="20577"/>
        <pc:sldMkLst>
          <pc:docMk/>
          <pc:sldMk cId="0" sldId="261"/>
        </pc:sldMkLst>
        <pc:spChg chg="mod">
          <ac:chgData name="Laia Perez Blazquez" userId="29b1bf0f-4dc1-43ac-b1e8-08f77456d5dc" providerId="ADAL" clId="{B0518BE0-ED72-44F6-B8BA-04068C37C50D}" dt="2026-09-17T14:17:24.051" v="33" actId="20577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Laia Perez Blazquez" userId="29b1bf0f-4dc1-43ac-b1e8-08f77456d5dc" providerId="ADAL" clId="{B0518BE0-ED72-44F6-B8BA-04068C37C50D}" dt="2026-09-17T14:19:36.705" v="49" actId="20577"/>
        <pc:sldMkLst>
          <pc:docMk/>
          <pc:sldMk cId="0" sldId="262"/>
        </pc:sldMkLst>
        <pc:spChg chg="mod">
          <ac:chgData name="Laia Perez Blazquez" userId="29b1bf0f-4dc1-43ac-b1e8-08f77456d5dc" providerId="ADAL" clId="{B0518BE0-ED72-44F6-B8BA-04068C37C50D}" dt="2026-09-17T14:19:36.705" v="49" actId="20577"/>
          <ac:spMkLst>
            <pc:docMk/>
            <pc:sldMk cId="0" sldId="262"/>
            <ac:spMk id="2" creationId="{00000000-0000-0000-0000-000000000000}"/>
          </ac:spMkLst>
        </pc:spChg>
      </pc:sldChg>
      <pc:sldChg chg="addSp modSp mod">
        <pc:chgData name="Laia Perez Blazquez" userId="29b1bf0f-4dc1-43ac-b1e8-08f77456d5dc" providerId="ADAL" clId="{B0518BE0-ED72-44F6-B8BA-04068C37C50D}" dt="2026-09-17T14:43:27.790" v="95" actId="20577"/>
        <pc:sldMkLst>
          <pc:docMk/>
          <pc:sldMk cId="0" sldId="263"/>
        </pc:sldMkLst>
        <pc:spChg chg="mod">
          <ac:chgData name="Laia Perez Blazquez" userId="29b1bf0f-4dc1-43ac-b1e8-08f77456d5dc" providerId="ADAL" clId="{B0518BE0-ED72-44F6-B8BA-04068C37C50D}" dt="2026-09-17T14:13:52.319" v="31"/>
          <ac:spMkLst>
            <pc:docMk/>
            <pc:sldMk cId="0" sldId="263"/>
            <ac:spMk id="8" creationId="{00000000-0000-0000-0000-000000000000}"/>
          </ac:spMkLst>
        </pc:spChg>
        <pc:spChg chg="mod">
          <ac:chgData name="Laia Perez Blazquez" userId="29b1bf0f-4dc1-43ac-b1e8-08f77456d5dc" providerId="ADAL" clId="{B0518BE0-ED72-44F6-B8BA-04068C37C50D}" dt="2026-09-17T14:42:36.202" v="92" actId="2057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Laia Perez Blazquez" userId="29b1bf0f-4dc1-43ac-b1e8-08f77456d5dc" providerId="ADAL" clId="{B0518BE0-ED72-44F6-B8BA-04068C37C50D}" dt="2026-09-17T14:43:27.790" v="95" actId="20577"/>
          <ac:spMkLst>
            <pc:docMk/>
            <pc:sldMk cId="0" sldId="263"/>
            <ac:spMk id="23" creationId="{00000000-0000-0000-0000-000000000000}"/>
          </ac:spMkLst>
        </pc:spChg>
        <pc:graphicFrameChg chg="add mod modGraphic">
          <ac:chgData name="Laia Perez Blazquez" userId="29b1bf0f-4dc1-43ac-b1e8-08f77456d5dc" providerId="ADAL" clId="{B0518BE0-ED72-44F6-B8BA-04068C37C50D}" dt="2026-09-17T14:13:30.494" v="30" actId="2164"/>
          <ac:graphicFrameMkLst>
            <pc:docMk/>
            <pc:sldMk cId="0" sldId="263"/>
            <ac:graphicFrameMk id="34" creationId="{0AEA1B5B-17CB-395C-173C-717D87594A08}"/>
          </ac:graphicFrameMkLst>
        </pc:graphicFrameChg>
      </pc:sldChg>
      <pc:sldChg chg="delSp add del mod">
        <pc:chgData name="Laia Perez Blazquez" userId="29b1bf0f-4dc1-43ac-b1e8-08f77456d5dc" providerId="ADAL" clId="{B0518BE0-ED72-44F6-B8BA-04068C37C50D}" dt="2026-09-17T13:28:03.190" v="22" actId="47"/>
        <pc:sldMkLst>
          <pc:docMk/>
          <pc:sldMk cId="37472362" sldId="265"/>
        </pc:sldMkLst>
        <pc:spChg chg="del">
          <ac:chgData name="Laia Perez Blazquez" userId="29b1bf0f-4dc1-43ac-b1e8-08f77456d5dc" providerId="ADAL" clId="{B0518BE0-ED72-44F6-B8BA-04068C37C50D}" dt="2026-09-17T12:11:21.910" v="20" actId="478"/>
          <ac:spMkLst>
            <pc:docMk/>
            <pc:sldMk cId="37472362" sldId="265"/>
            <ac:spMk id="2" creationId="{EC396EB1-78F1-00B1-12DC-037FA5F8515C}"/>
          </ac:spMkLst>
        </pc:spChg>
        <pc:spChg chg="del">
          <ac:chgData name="Laia Perez Blazquez" userId="29b1bf0f-4dc1-43ac-b1e8-08f77456d5dc" providerId="ADAL" clId="{B0518BE0-ED72-44F6-B8BA-04068C37C50D}" dt="2026-09-17T12:11:23.078" v="21" actId="478"/>
          <ac:spMkLst>
            <pc:docMk/>
            <pc:sldMk cId="37472362" sldId="265"/>
            <ac:spMk id="3" creationId="{8D9419A7-1A46-C849-3562-0CE0DDAE04EF}"/>
          </ac:spMkLst>
        </pc:spChg>
        <pc:picChg chg="del">
          <ac:chgData name="Laia Perez Blazquez" userId="29b1bf0f-4dc1-43ac-b1e8-08f77456d5dc" providerId="ADAL" clId="{B0518BE0-ED72-44F6-B8BA-04068C37C50D}" dt="2026-09-17T12:11:20.949" v="19" actId="478"/>
          <ac:picMkLst>
            <pc:docMk/>
            <pc:sldMk cId="37472362" sldId="265"/>
            <ac:picMk id="12" creationId="{1192D44E-5022-A43C-8580-64A162328CD3}"/>
          </ac:picMkLst>
        </pc:picChg>
      </pc:sldChg>
      <pc:sldChg chg="add del setBg">
        <pc:chgData name="Laia Perez Blazquez" userId="29b1bf0f-4dc1-43ac-b1e8-08f77456d5dc" providerId="ADAL" clId="{B0518BE0-ED72-44F6-B8BA-04068C37C50D}" dt="2026-09-17T12:11:14.150" v="17"/>
        <pc:sldMkLst>
          <pc:docMk/>
          <pc:sldMk cId="801713021" sldId="265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2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4_0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6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Precio medio de cierre ($)</c:v>
                </c:pt>
              </c:strCache>
            </c:strRef>
          </c:tx>
          <c:spPr>
            <a:ln w="38100" cap="flat">
              <a:solidFill>
                <a:srgbClr val="0071E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1E3"/>
              </a:solidFill>
              <a:ln w="9525" cap="flat">
                <a:solidFill>
                  <a:srgbClr val="0071E3"/>
                </a:solidFill>
                <a:prstDash val="solid"/>
                <a:round/>
              </a:ln>
              <a:effectLst/>
            </c:spPr>
          </c:marker>
          <c:cat>
            <c:strRef>
              <c:f>Sheet1!$A$2:$A$41</c:f>
              <c:strCache>
                <c:ptCount val="40"/>
                <c:pt idx="0">
                  <c:v>1980</c:v>
                </c:pt>
                <c:pt idx="1">
                  <c:v>1981</c:v>
                </c:pt>
                <c:pt idx="2">
                  <c:v>1982</c:v>
                </c:pt>
                <c:pt idx="3">
                  <c:v>1983</c:v>
                </c:pt>
                <c:pt idx="4">
                  <c:v>1984</c:v>
                </c:pt>
                <c:pt idx="5">
                  <c:v>1985</c:v>
                </c:pt>
                <c:pt idx="6">
                  <c:v>1986</c:v>
                </c:pt>
                <c:pt idx="7">
                  <c:v>1987</c:v>
                </c:pt>
                <c:pt idx="8">
                  <c:v>1988</c:v>
                </c:pt>
                <c:pt idx="9">
                  <c:v>1989</c:v>
                </c:pt>
                <c:pt idx="10">
                  <c:v>1990</c:v>
                </c:pt>
                <c:pt idx="11">
                  <c:v>1991</c:v>
                </c:pt>
                <c:pt idx="12">
                  <c:v>1992</c:v>
                </c:pt>
                <c:pt idx="13">
                  <c:v>1993</c:v>
                </c:pt>
                <c:pt idx="14">
                  <c:v>1994</c:v>
                </c:pt>
                <c:pt idx="15">
                  <c:v>1995</c:v>
                </c:pt>
                <c:pt idx="16">
                  <c:v>1996</c:v>
                </c:pt>
                <c:pt idx="17">
                  <c:v>1997</c:v>
                </c:pt>
                <c:pt idx="18">
                  <c:v>1998</c:v>
                </c:pt>
                <c:pt idx="19">
                  <c:v>1999</c:v>
                </c:pt>
                <c:pt idx="20">
                  <c:v>2000</c:v>
                </c:pt>
                <c:pt idx="21">
                  <c:v>2001</c:v>
                </c:pt>
                <c:pt idx="22">
                  <c:v>2002</c:v>
                </c:pt>
                <c:pt idx="23">
                  <c:v>2003</c:v>
                </c:pt>
                <c:pt idx="24">
                  <c:v>2004</c:v>
                </c:pt>
                <c:pt idx="25">
                  <c:v>2005</c:v>
                </c:pt>
                <c:pt idx="26">
                  <c:v>2006</c:v>
                </c:pt>
                <c:pt idx="27">
                  <c:v>2007</c:v>
                </c:pt>
                <c:pt idx="28">
                  <c:v>2008</c:v>
                </c:pt>
                <c:pt idx="29">
                  <c:v>2009</c:v>
                </c:pt>
                <c:pt idx="30">
                  <c:v>2010</c:v>
                </c:pt>
                <c:pt idx="31">
                  <c:v>2011</c:v>
                </c:pt>
                <c:pt idx="32">
                  <c:v>2012</c:v>
                </c:pt>
                <c:pt idx="33">
                  <c:v>2013</c:v>
                </c:pt>
                <c:pt idx="34">
                  <c:v>2014</c:v>
                </c:pt>
                <c:pt idx="35">
                  <c:v>2015</c:v>
                </c:pt>
                <c:pt idx="36">
                  <c:v>2016</c:v>
                </c:pt>
                <c:pt idx="37">
                  <c:v>2017</c:v>
                </c:pt>
                <c:pt idx="38">
                  <c:v>2018</c:v>
                </c:pt>
                <c:pt idx="39">
                  <c:v>2019</c:v>
                </c:pt>
              </c:strCache>
            </c: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0.1062</c:v>
                </c:pt>
                <c:pt idx="1">
                  <c:v>8.48E-2</c:v>
                </c:pt>
                <c:pt idx="2">
                  <c:v>6.6799999999999998E-2</c:v>
                </c:pt>
                <c:pt idx="3">
                  <c:v>0.13089999999999999</c:v>
                </c:pt>
                <c:pt idx="4">
                  <c:v>9.35E-2</c:v>
                </c:pt>
                <c:pt idx="5">
                  <c:v>7.0400000000000004E-2</c:v>
                </c:pt>
                <c:pt idx="6">
                  <c:v>0.1132</c:v>
                </c:pt>
                <c:pt idx="7">
                  <c:v>0.27179999999999999</c:v>
                </c:pt>
                <c:pt idx="8">
                  <c:v>0.29160000000000003</c:v>
                </c:pt>
                <c:pt idx="9">
                  <c:v>0.29530000000000001</c:v>
                </c:pt>
                <c:pt idx="10">
                  <c:v>0.26910000000000001</c:v>
                </c:pt>
                <c:pt idx="11">
                  <c:v>0.38019999999999998</c:v>
                </c:pt>
                <c:pt idx="12">
                  <c:v>0.40050000000000002</c:v>
                </c:pt>
                <c:pt idx="13">
                  <c:v>0.30249999999999999</c:v>
                </c:pt>
                <c:pt idx="14">
                  <c:v>0.25519999999999998</c:v>
                </c:pt>
                <c:pt idx="15">
                  <c:v>0.30719999999999997</c:v>
                </c:pt>
                <c:pt idx="16">
                  <c:v>0.18990000000000001</c:v>
                </c:pt>
                <c:pt idx="17">
                  <c:v>0.13689999999999999</c:v>
                </c:pt>
                <c:pt idx="18">
                  <c:v>0.23300000000000001</c:v>
                </c:pt>
                <c:pt idx="19">
                  <c:v>0.44040000000000001</c:v>
                </c:pt>
                <c:pt idx="20">
                  <c:v>0.69689999999999996</c:v>
                </c:pt>
                <c:pt idx="21">
                  <c:v>0.30819999999999997</c:v>
                </c:pt>
                <c:pt idx="22">
                  <c:v>0.2918</c:v>
                </c:pt>
                <c:pt idx="23">
                  <c:v>0.28270000000000001</c:v>
                </c:pt>
                <c:pt idx="24">
                  <c:v>0.54159999999999997</c:v>
                </c:pt>
                <c:pt idx="25">
                  <c:v>1.4232</c:v>
                </c:pt>
                <c:pt idx="26">
                  <c:v>2.1591</c:v>
                </c:pt>
                <c:pt idx="27">
                  <c:v>3.9110999999999998</c:v>
                </c:pt>
                <c:pt idx="28">
                  <c:v>4.3289999999999997</c:v>
                </c:pt>
                <c:pt idx="29">
                  <c:v>4.4764999999999997</c:v>
                </c:pt>
                <c:pt idx="30">
                  <c:v>7.9226999999999999</c:v>
                </c:pt>
                <c:pt idx="31">
                  <c:v>11.098599999999999</c:v>
                </c:pt>
                <c:pt idx="32">
                  <c:v>17.6069</c:v>
                </c:pt>
                <c:pt idx="33">
                  <c:v>14.7372</c:v>
                </c:pt>
                <c:pt idx="34">
                  <c:v>20.6251</c:v>
                </c:pt>
                <c:pt idx="35">
                  <c:v>27.2912</c:v>
                </c:pt>
                <c:pt idx="36">
                  <c:v>24.2745</c:v>
                </c:pt>
                <c:pt idx="37">
                  <c:v>35.597299999999997</c:v>
                </c:pt>
                <c:pt idx="38">
                  <c:v>45.384099999999997</c:v>
                </c:pt>
                <c:pt idx="39">
                  <c:v>50.785800000000002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FA1-4B72-8BFD-F65B3137C4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686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5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D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686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Sesiones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4C75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984-415E-9F61-24C4FEE3AF47}"/>
              </c:ext>
            </c:extLst>
          </c:dPt>
          <c:dPt>
            <c:idx val="1"/>
            <c:bubble3D val="0"/>
            <c:spPr>
              <a:solidFill>
                <a:srgbClr val="FF3B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984-415E-9F61-24C4FEE3AF4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984-415E-9F61-24C4FEE3AF4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984-415E-9F61-24C4FEE3AF4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Días que sube</c:v>
                </c:pt>
                <c:pt idx="1">
                  <c:v>Días que baja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5528</c:v>
                </c:pt>
                <c:pt idx="1">
                  <c:v>5031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984-415E-9F61-24C4FEE3AF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D1D1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Volumen medio diario (millones)</c:v>
                </c:pt>
              </c:strCache>
            </c:strRef>
          </c:tx>
          <c:spPr>
            <a:solidFill>
              <a:srgbClr val="FF3B3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84F-4151-9273-1E7B2DBF86E2}"/>
              </c:ext>
            </c:extLst>
          </c:dPt>
          <c:dPt>
            <c:idx val="1"/>
            <c:invertIfNegative val="0"/>
            <c:bubble3D val="0"/>
            <c:spPr>
              <a:solidFill>
                <a:srgbClr val="8E8E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84F-4151-9273-1E7B2DBF86E2}"/>
              </c:ext>
            </c:extLst>
          </c:dPt>
          <c:dPt>
            <c:idx val="2"/>
            <c:invertIfNegative val="0"/>
            <c:bubble3D val="0"/>
            <c:spPr>
              <a:solidFill>
                <a:srgbClr val="8E8E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84F-4151-9273-1E7B2DBF86E2}"/>
              </c:ext>
            </c:extLst>
          </c:dPt>
          <c:dPt>
            <c:idx val="3"/>
            <c:invertIfNegative val="0"/>
            <c:bubble3D val="0"/>
            <c:spPr>
              <a:solidFill>
                <a:srgbClr val="8E8E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84F-4151-9273-1E7B2DBF86E2}"/>
              </c:ext>
            </c:extLst>
          </c:dPt>
          <c:dPt>
            <c:idx val="4"/>
            <c:invertIfNegative val="0"/>
            <c:bubble3D val="0"/>
            <c:spPr>
              <a:solidFill>
                <a:srgbClr val="8E8E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84F-4151-9273-1E7B2DBF86E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D1D1F"/>
                    </a:solidFill>
                    <a:latin typeface="Calibri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2008</c:v>
                </c:pt>
                <c:pt idx="1">
                  <c:v>2007</c:v>
                </c:pt>
                <c:pt idx="2">
                  <c:v>2006</c:v>
                </c:pt>
                <c:pt idx="3">
                  <c:v>2005</c:v>
                </c:pt>
                <c:pt idx="4">
                  <c:v>2010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1119.8</c:v>
                </c:pt>
                <c:pt idx="1">
                  <c:v>974.3</c:v>
                </c:pt>
                <c:pt idx="2">
                  <c:v>855.6</c:v>
                </c:pt>
                <c:pt idx="3">
                  <c:v>711.1</c:v>
                </c:pt>
                <c:pt idx="4">
                  <c:v>599.29999999999995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84F-4151-9273-1E7B2DBF86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1D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D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686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457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371600"/>
            <a:ext cx="5120640" cy="5120640"/>
          </a:xfrm>
          <a:prstGeom prst="ellipse">
            <a:avLst/>
          </a:prstGeom>
          <a:solidFill>
            <a:srgbClr val="2C2C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7223760" y="2651760"/>
            <a:ext cx="3108960" cy="3108960"/>
          </a:xfrm>
          <a:prstGeom prst="ellipse">
            <a:avLst/>
          </a:prstGeom>
          <a:solidFill>
            <a:srgbClr val="2626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685800" y="11704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DATOS  ·  BOLSA</a:t>
            </a:r>
            <a:endParaRPr lang="en-US" sz="1150"/>
          </a:p>
        </p:txBody>
      </p:sp>
      <p:sp>
        <p:nvSpPr>
          <p:cNvPr id="5" name="Text 3"/>
          <p:cNvSpPr/>
          <p:nvPr/>
        </p:nvSpPr>
        <p:spPr>
          <a:xfrm>
            <a:off x="685800" y="1517904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Apple en bolsa</a:t>
            </a:r>
            <a:endParaRPr lang="en-US" sz="4800"/>
          </a:p>
        </p:txBody>
      </p:sp>
      <p:sp>
        <p:nvSpPr>
          <p:cNvPr id="6" name="Text 4"/>
          <p:cNvSpPr/>
          <p:nvPr/>
        </p:nvSpPr>
        <p:spPr>
          <a:xfrm>
            <a:off x="685800" y="239572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años de cotización en 10.559 días</a:t>
            </a:r>
            <a:endParaRPr lang="en-US" sz="1900"/>
          </a:p>
        </p:txBody>
      </p:sp>
      <p:sp>
        <p:nvSpPr>
          <p:cNvPr id="7" name="Shape 5"/>
          <p:cNvSpPr/>
          <p:nvPr/>
        </p:nvSpPr>
        <p:spPr>
          <a:xfrm>
            <a:off x="713232" y="3063240"/>
            <a:ext cx="914400" cy="32004"/>
          </a:xfrm>
          <a:prstGeom prst="rect">
            <a:avLst/>
          </a:prstGeom>
          <a:solidFill>
            <a:srgbClr val="0071E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85800" y="331012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Laia Pérez Blázquez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Kaggle · Apple stock 1980–2022</a:t>
            </a:r>
            <a:endParaRPr lang="en-US" sz="1300"/>
          </a:p>
        </p:txBody>
      </p:sp>
      <p:pic>
        <p:nvPicPr>
          <p:cNvPr id="12" name="Picture 11" descr="Logo Apple PNG HD Images Free Download - Free Transparent PNG Logos">
            <a:extLst>
              <a:ext uri="{FF2B5EF4-FFF2-40B4-BE49-F238E27FC236}">
                <a16:creationId xmlns:a16="http://schemas.microsoft.com/office/drawing/2014/main" id="{DB23D7CD-F38B-5727-42FD-4244BDA6B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235" y="1763268"/>
            <a:ext cx="1739369" cy="22509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¿Con qué datos trabajamos?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02920" y="1243584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4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diario de la acción de Apple (AAPL) desde el 12 de diciembre de 1980 hasta el 28 de octubre de 2022.</a:t>
            </a:r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874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6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0071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10.559</a:t>
            </a:r>
            <a:endParaRPr lang="en-US" sz="270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cotización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2546604" y="1737360"/>
            <a:ext cx="1874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6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546604" y="18745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700"/>
          </a:p>
        </p:txBody>
      </p:sp>
      <p:sp>
        <p:nvSpPr>
          <p:cNvPr id="10" name="Text 8"/>
          <p:cNvSpPr/>
          <p:nvPr/>
        </p:nvSpPr>
        <p:spPr>
          <a:xfrm>
            <a:off x="2546604" y="2377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por día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4590288" y="1737360"/>
            <a:ext cx="1874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6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590288" y="18745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</a:t>
            </a:r>
            <a:endParaRPr lang="en-US" sz="2700"/>
          </a:p>
        </p:txBody>
      </p:sp>
      <p:sp>
        <p:nvSpPr>
          <p:cNvPr id="13" name="Text 11"/>
          <p:cNvSpPr/>
          <p:nvPr/>
        </p:nvSpPr>
        <p:spPr>
          <a:xfrm>
            <a:off x="4590288" y="2377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historia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6633972" y="1737360"/>
            <a:ext cx="1874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6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633972" y="18745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34C7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0,04 $ → 181 $</a:t>
            </a:r>
            <a:endParaRPr lang="en-US" sz="1700"/>
          </a:p>
        </p:txBody>
      </p:sp>
      <p:sp>
        <p:nvSpPr>
          <p:cNvPr id="16" name="Text 14"/>
          <p:cNvSpPr/>
          <p:nvPr/>
        </p:nvSpPr>
        <p:spPr>
          <a:xfrm>
            <a:off x="6633972" y="2377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del precio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502920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disponibles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02920" y="3273552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b="1">
                <a:solidFill>
                  <a:srgbClr val="4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r>
              <a:rPr lang="en-US" sz="1150">
                <a:solidFill>
                  <a:srgbClr val="4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fecha de la sesión</a:t>
            </a:r>
            <a:endParaRPr lang="en-US" sz="1150"/>
          </a:p>
          <a:p>
            <a:pPr marL="0" indent="0">
              <a:lnSpc>
                <a:spcPts val="1600"/>
              </a:lnSpc>
              <a:buNone/>
            </a:pPr>
            <a:r>
              <a:rPr lang="en-US" sz="1150" b="1">
                <a:solidFill>
                  <a:srgbClr val="4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high / low / close</a:t>
            </a:r>
            <a:r>
              <a:rPr lang="en-US" sz="1150">
                <a:solidFill>
                  <a:srgbClr val="4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precios del día</a:t>
            </a:r>
            <a:endParaRPr lang="en-US" sz="1150"/>
          </a:p>
          <a:p>
            <a:pPr marL="0" indent="0">
              <a:lnSpc>
                <a:spcPts val="1600"/>
              </a:lnSpc>
              <a:buNone/>
            </a:pPr>
            <a:r>
              <a:rPr lang="en-US" sz="1150" b="1">
                <a:solidFill>
                  <a:srgbClr val="4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r>
              <a:rPr lang="en-US" sz="1150">
                <a:solidFill>
                  <a:srgbClr val="4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nº de acciones negociadas</a:t>
            </a:r>
            <a:endParaRPr lang="en-US" sz="1150"/>
          </a:p>
          <a:p>
            <a:pPr marL="0" indent="0">
              <a:lnSpc>
                <a:spcPts val="1600"/>
              </a:lnSpc>
              <a:buNone/>
            </a:pPr>
            <a:r>
              <a:rPr lang="en-US" sz="1150" b="1">
                <a:solidFill>
                  <a:srgbClr val="4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or not</a:t>
            </a:r>
            <a:r>
              <a:rPr lang="en-US" sz="1150">
                <a:solidFill>
                  <a:srgbClr val="4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marca los días de pérdida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>
          <a:xfrm>
            <a:off x="5577840" y="3017520"/>
            <a:ext cx="3063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6D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5577840" y="3017520"/>
            <a:ext cx="64008" cy="1417320"/>
          </a:xfrm>
          <a:prstGeom prst="rect">
            <a:avLst/>
          </a:prstGeom>
          <a:solidFill>
            <a:srgbClr val="FF3B3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5779008" y="310896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err="1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</a:t>
            </a:r>
            <a:r>
              <a:rPr lang="en-US" sz="1150" b="1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err="1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columna </a:t>
            </a:r>
            <a:r>
              <a:rPr lang="en-US" sz="1000" b="1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or not</a:t>
            </a:r>
            <a:r>
              <a:rPr lang="en-US" sz="100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marca con 1 los días de PÉRDIDA, no de ganancia. Verificado: de los 5.031 días con valor 1, </a:t>
            </a:r>
            <a:r>
              <a:rPr lang="en-US" sz="1000" b="1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</a:t>
            </a:r>
            <a:r>
              <a:rPr lang="en-US" sz="100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cerró en positivo.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502920" y="47594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Stock 1980–2022  ·  Laia Perez Blazquez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8229600" y="47594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¿Cómo ha evolucionado el precio?</a:t>
            </a:r>
            <a:endParaRPr lang="en-US" sz="300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225296"/>
          <a:ext cx="8138160" cy="2578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913632"/>
            <a:ext cx="8138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6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502920" y="3913632"/>
            <a:ext cx="64008" cy="713232"/>
          </a:xfrm>
          <a:prstGeom prst="rect">
            <a:avLst/>
          </a:prstGeom>
          <a:solidFill>
            <a:srgbClr val="0071E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13232" y="3968496"/>
            <a:ext cx="777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20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casi 25 años el precio apenas se movió: no superó 1 $ hasta 2005. La aceleración real empieza con el iPhone (2007) y se dispara en la última década.</a:t>
            </a:r>
            <a:endParaRPr lang="en-US" sz="950"/>
          </a:p>
        </p:txBody>
      </p:sp>
      <p:sp>
        <p:nvSpPr>
          <p:cNvPr id="8" name="Text 5"/>
          <p:cNvSpPr/>
          <p:nvPr/>
        </p:nvSpPr>
        <p:spPr>
          <a:xfrm>
            <a:off x="502920" y="47594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Stock 1980–2022  ·  Laia Perez Blazquez</a:t>
            </a:r>
            <a:endParaRPr lang="en-US" sz="900"/>
          </a:p>
        </p:txBody>
      </p:sp>
      <p:sp>
        <p:nvSpPr>
          <p:cNvPr id="9" name="Text 6"/>
          <p:cNvSpPr/>
          <p:nvPr/>
        </p:nvSpPr>
        <p:spPr>
          <a:xfrm>
            <a:off x="8229600" y="47594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¿Cuántos días sube y cuántos baja?</a:t>
            </a:r>
            <a:endParaRPr lang="en-US" sz="300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1188720"/>
          <a:ext cx="39319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1298448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34C7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52,4 %</a:t>
            </a:r>
            <a:endParaRPr lang="en-US" sz="4600"/>
          </a:p>
        </p:txBody>
      </p:sp>
      <p:sp>
        <p:nvSpPr>
          <p:cNvPr id="6" name="Text 3"/>
          <p:cNvSpPr/>
          <p:nvPr/>
        </p:nvSpPr>
        <p:spPr>
          <a:xfrm>
            <a:off x="4572000" y="202996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sesiones cierran en positivo</a:t>
            </a:r>
            <a:endParaRPr lang="en-US" sz="1300"/>
          </a:p>
        </p:txBody>
      </p:sp>
      <p:sp>
        <p:nvSpPr>
          <p:cNvPr id="7" name="Shape 4"/>
          <p:cNvSpPr/>
          <p:nvPr/>
        </p:nvSpPr>
        <p:spPr>
          <a:xfrm>
            <a:off x="4572000" y="2450592"/>
            <a:ext cx="1965960" cy="960120"/>
          </a:xfrm>
          <a:prstGeom prst="rect">
            <a:avLst/>
          </a:prstGeom>
          <a:solidFill>
            <a:srgbClr val="F5F5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4572000" y="2450592"/>
            <a:ext cx="1965960" cy="54864"/>
          </a:xfrm>
          <a:prstGeom prst="rect">
            <a:avLst/>
          </a:prstGeom>
          <a:solidFill>
            <a:srgbClr val="34C75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4572000" y="257860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5.528</a:t>
            </a:r>
            <a:endParaRPr lang="en-US" sz="2200"/>
          </a:p>
        </p:txBody>
      </p:sp>
      <p:sp>
        <p:nvSpPr>
          <p:cNvPr id="10" name="Text 7"/>
          <p:cNvSpPr/>
          <p:nvPr/>
        </p:nvSpPr>
        <p:spPr>
          <a:xfrm>
            <a:off x="4572000" y="29992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al alza</a:t>
            </a:r>
            <a:endParaRPr lang="en-US" sz="1050"/>
          </a:p>
        </p:txBody>
      </p:sp>
      <p:sp>
        <p:nvSpPr>
          <p:cNvPr id="11" name="Shape 8"/>
          <p:cNvSpPr/>
          <p:nvPr/>
        </p:nvSpPr>
        <p:spPr>
          <a:xfrm>
            <a:off x="6656832" y="2450592"/>
            <a:ext cx="1965960" cy="960120"/>
          </a:xfrm>
          <a:prstGeom prst="rect">
            <a:avLst/>
          </a:prstGeom>
          <a:solidFill>
            <a:srgbClr val="F5F5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6656832" y="2450592"/>
            <a:ext cx="1965960" cy="54864"/>
          </a:xfrm>
          <a:prstGeom prst="rect">
            <a:avLst/>
          </a:prstGeom>
          <a:solidFill>
            <a:srgbClr val="FF3B3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6656832" y="257860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5.031</a:t>
            </a:r>
            <a:endParaRPr lang="en-US" sz="2200"/>
          </a:p>
        </p:txBody>
      </p:sp>
      <p:sp>
        <p:nvSpPr>
          <p:cNvPr id="14" name="Text 11"/>
          <p:cNvSpPr/>
          <p:nvPr/>
        </p:nvSpPr>
        <p:spPr>
          <a:xfrm>
            <a:off x="6656832" y="29992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a la baja</a:t>
            </a:r>
            <a:endParaRPr lang="en-US" sz="1050"/>
          </a:p>
        </p:txBody>
      </p:sp>
      <p:sp>
        <p:nvSpPr>
          <p:cNvPr id="15" name="Shape 12"/>
          <p:cNvSpPr/>
          <p:nvPr/>
        </p:nvSpPr>
        <p:spPr>
          <a:xfrm>
            <a:off x="502920" y="3913632"/>
            <a:ext cx="8138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6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502920" y="3913632"/>
            <a:ext cx="64008" cy="713232"/>
          </a:xfrm>
          <a:prstGeom prst="rect">
            <a:avLst/>
          </a:prstGeom>
          <a:solidFill>
            <a:srgbClr val="0071E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713232" y="3968496"/>
            <a:ext cx="777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20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ventaja de apenas 4 puntos (52 % frente a 48 %), repetida durante 10.559 sesiones, basta para construir una de las mayores revalorizaciones de la historia.</a:t>
            </a:r>
            <a:endParaRPr lang="en-US" sz="950"/>
          </a:p>
        </p:txBody>
      </p:sp>
      <p:sp>
        <p:nvSpPr>
          <p:cNvPr id="18" name="Text 15"/>
          <p:cNvSpPr/>
          <p:nvPr/>
        </p:nvSpPr>
        <p:spPr>
          <a:xfrm>
            <a:off x="502920" y="47594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Stock 1980–2022  ·  Laia Perez Blazquez</a:t>
            </a:r>
            <a:endParaRPr lang="en-US" sz="900"/>
          </a:p>
        </p:txBody>
      </p:sp>
      <p:sp>
        <p:nvSpPr>
          <p:cNvPr id="19" name="Text 16"/>
          <p:cNvSpPr/>
          <p:nvPr/>
        </p:nvSpPr>
        <p:spPr>
          <a:xfrm>
            <a:off x="8229600" y="47594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¿Se negocia más al caer o al subir?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7889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6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2788920" cy="73152"/>
          </a:xfrm>
          <a:prstGeom prst="rect">
            <a:avLst/>
          </a:prstGeom>
          <a:solidFill>
            <a:srgbClr val="FF3B3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que BAJA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332,7 M</a:t>
            </a:r>
            <a:endParaRPr lang="en-US" sz="380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acciones/día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3566160" y="1371600"/>
            <a:ext cx="27889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6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566160" y="1371600"/>
            <a:ext cx="2788920" cy="73152"/>
          </a:xfrm>
          <a:prstGeom prst="rect">
            <a:avLst/>
          </a:prstGeom>
          <a:solidFill>
            <a:srgbClr val="34C75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566160" y="15727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que SUBE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3566160" y="20116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320,5 M</a:t>
            </a:r>
            <a:endParaRPr lang="en-US" sz="3800"/>
          </a:p>
        </p:txBody>
      </p:sp>
      <p:sp>
        <p:nvSpPr>
          <p:cNvPr id="13" name="Text 11"/>
          <p:cNvSpPr/>
          <p:nvPr/>
        </p:nvSpPr>
        <p:spPr>
          <a:xfrm>
            <a:off x="3566160" y="27889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acciones/día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6629400" y="1371600"/>
            <a:ext cx="2011680" cy="2194560"/>
          </a:xfrm>
          <a:prstGeom prst="rect">
            <a:avLst/>
          </a:prstGeom>
          <a:solidFill>
            <a:srgbClr val="1D1D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629400" y="20574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+3,8 %</a:t>
            </a:r>
            <a:endParaRPr lang="en-US" sz="3200"/>
          </a:p>
        </p:txBody>
      </p:sp>
      <p:sp>
        <p:nvSpPr>
          <p:cNvPr id="16" name="Text 14"/>
          <p:cNvSpPr/>
          <p:nvPr/>
        </p:nvSpPr>
        <p:spPr>
          <a:xfrm>
            <a:off x="6629400" y="27249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volumen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días de caída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502920" y="3913632"/>
            <a:ext cx="8138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6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02920" y="3913632"/>
            <a:ext cx="64008" cy="713232"/>
          </a:xfrm>
          <a:prstGeom prst="rect">
            <a:avLst/>
          </a:prstGeom>
          <a:solidFill>
            <a:srgbClr val="0071E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13232" y="3968496"/>
            <a:ext cx="777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20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miedo mueve algo más que la euforia, pero la diferencia es mínima: Apple mantiene una liquidez muy estable pase lo que pase en el mercado.</a:t>
            </a:r>
            <a:endParaRPr lang="en-US" sz="950"/>
          </a:p>
        </p:txBody>
      </p:sp>
      <p:sp>
        <p:nvSpPr>
          <p:cNvPr id="20" name="Text 18"/>
          <p:cNvSpPr/>
          <p:nvPr/>
        </p:nvSpPr>
        <p:spPr>
          <a:xfrm>
            <a:off x="502920" y="47594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Stock 1980–2022  ·  Laia Perez Blazquez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8229600" y="47594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4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¿Cuándo hubo más nerviosismo?</a:t>
            </a:r>
            <a:endParaRPr lang="en-US" sz="300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225296"/>
          <a:ext cx="51206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371600"/>
            <a:ext cx="2788920" cy="2240280"/>
          </a:xfrm>
          <a:prstGeom prst="rect">
            <a:avLst/>
          </a:prstGeom>
          <a:solidFill>
            <a:srgbClr val="F5F5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5852160" y="1371600"/>
            <a:ext cx="64008" cy="2240280"/>
          </a:xfrm>
          <a:prstGeom prst="rect">
            <a:avLst/>
          </a:prstGeom>
          <a:solidFill>
            <a:srgbClr val="FF3B3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6053328" y="15361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3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2008</a:t>
            </a:r>
            <a:endParaRPr lang="en-US" sz="3400"/>
          </a:p>
        </p:txBody>
      </p:sp>
      <p:sp>
        <p:nvSpPr>
          <p:cNvPr id="8" name="Text 5"/>
          <p:cNvSpPr/>
          <p:nvPr/>
        </p:nvSpPr>
        <p:spPr>
          <a:xfrm>
            <a:off x="6053328" y="21031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1.119 millones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rgbClr val="4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acciones al día: el récord absoluto de la serie.
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rgbClr val="4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 con la crisis financiera, no con el máximo de precio.</a:t>
            </a:r>
            <a:endParaRPr lang="en-US" sz="1300"/>
          </a:p>
        </p:txBody>
      </p:sp>
      <p:sp>
        <p:nvSpPr>
          <p:cNvPr id="9" name="Shape 6"/>
          <p:cNvSpPr/>
          <p:nvPr/>
        </p:nvSpPr>
        <p:spPr>
          <a:xfrm>
            <a:off x="502920" y="3913632"/>
            <a:ext cx="8138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6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502920" y="3913632"/>
            <a:ext cx="64008" cy="713232"/>
          </a:xfrm>
          <a:prstGeom prst="rect">
            <a:avLst/>
          </a:prstGeom>
          <a:solidFill>
            <a:srgbClr val="0071E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713232" y="3968496"/>
            <a:ext cx="777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20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pico de actividad no llega con los precios máximos, sino con la máxima incertidumbre. Desde 2010 el volumen cae aunque el precio se dispara.</a:t>
            </a:r>
            <a:endParaRPr lang="en-US" sz="950"/>
          </a:p>
        </p:txBody>
      </p:sp>
      <p:sp>
        <p:nvSpPr>
          <p:cNvPr id="12" name="Text 9"/>
          <p:cNvSpPr/>
          <p:nvPr/>
        </p:nvSpPr>
        <p:spPr>
          <a:xfrm>
            <a:off x="502920" y="47594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Stock 1980–2022  ·  Laia Perez Blazquez</a:t>
            </a:r>
            <a:endParaRPr lang="en-US" sz="900"/>
          </a:p>
        </p:txBody>
      </p:sp>
      <p:sp>
        <p:nvSpPr>
          <p:cNvPr id="13" name="Text 10"/>
          <p:cNvSpPr/>
          <p:nvPr/>
        </p:nvSpPr>
        <p:spPr>
          <a:xfrm>
            <a:off x="8229600" y="47594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nos dicen los datos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3977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6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704088" y="1517904"/>
            <a:ext cx="457200" cy="457200"/>
          </a:xfrm>
          <a:prstGeom prst="ellipse">
            <a:avLst/>
          </a:prstGeom>
          <a:solidFill>
            <a:srgbClr val="0071E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04088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1289304" y="14813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Crecimiento exponencial</a:t>
            </a:r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1289304" y="179222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050">
                <a:solidFill>
                  <a:srgbClr val="4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0,04 $ a 181 $. No superó 1 $ hasta 2005; la aceleración llega con el iPhone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4663440" y="1298448"/>
            <a:ext cx="3977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6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864608" y="1517904"/>
            <a:ext cx="457200" cy="457200"/>
          </a:xfrm>
          <a:prstGeom prst="ellipse">
            <a:avLst/>
          </a:prstGeom>
          <a:solidFill>
            <a:srgbClr val="0071E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864608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5449824" y="14813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ventaja mínima gana</a:t>
            </a:r>
            <a:endParaRPr lang="en-US" sz="1350"/>
          </a:p>
        </p:txBody>
      </p:sp>
      <p:sp>
        <p:nvSpPr>
          <p:cNvPr id="13" name="Text 11"/>
          <p:cNvSpPr/>
          <p:nvPr/>
        </p:nvSpPr>
        <p:spPr>
          <a:xfrm>
            <a:off x="5449824" y="179222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el 52 % de los días. Hay </a:t>
            </a:r>
            <a:r>
              <a:rPr lang="en-US" sz="1050" err="1">
                <a:solidFill>
                  <a:srgbClr val="4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1050">
                <a:solidFill>
                  <a:srgbClr val="4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días de </a:t>
            </a:r>
            <a:r>
              <a:rPr lang="en-US" sz="1050" err="1">
                <a:solidFill>
                  <a:srgbClr val="4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subidas</a:t>
            </a:r>
            <a:r>
              <a:rPr lang="en-US" sz="1050">
                <a:solidFill>
                  <a:srgbClr val="4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err="1">
                <a:solidFill>
                  <a:srgbClr val="4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050">
                <a:solidFill>
                  <a:srgbClr val="4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bajadas.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502920" y="2596896"/>
            <a:ext cx="3977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6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704088" y="2816352"/>
            <a:ext cx="457200" cy="457200"/>
          </a:xfrm>
          <a:prstGeom prst="ellipse">
            <a:avLst/>
          </a:prstGeom>
          <a:solidFill>
            <a:srgbClr val="0071E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704088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1289304" y="27797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Liquidez estable</a:t>
            </a:r>
            <a:endParaRPr lang="en-US" sz="1350"/>
          </a:p>
        </p:txBody>
      </p:sp>
      <p:sp>
        <p:nvSpPr>
          <p:cNvPr id="18" name="Text 16"/>
          <p:cNvSpPr/>
          <p:nvPr/>
        </p:nvSpPr>
        <p:spPr>
          <a:xfrm>
            <a:off x="1289304" y="30906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4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un 3,8 % más de volumen en las caídas: sin pánico vendedor.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4663440" y="2596896"/>
            <a:ext cx="3977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6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864608" y="2816352"/>
            <a:ext cx="457200" cy="457200"/>
          </a:xfrm>
          <a:prstGeom prst="ellipse">
            <a:avLst/>
          </a:prstGeom>
          <a:solidFill>
            <a:srgbClr val="0071E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864608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5449824" y="27797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Incertidumbre ≠ precio</a:t>
            </a:r>
            <a:endParaRPr lang="en-US" sz="1350"/>
          </a:p>
        </p:txBody>
      </p:sp>
      <p:sp>
        <p:nvSpPr>
          <p:cNvPr id="23" name="Text 21"/>
          <p:cNvSpPr/>
          <p:nvPr/>
        </p:nvSpPr>
        <p:spPr>
          <a:xfrm>
            <a:off x="5449824" y="30906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050">
                <a:solidFill>
                  <a:srgbClr val="4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récord de actividad que llega con la crisis, no con el máximo precio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502920" y="3959352"/>
            <a:ext cx="8138160" cy="658368"/>
          </a:xfrm>
          <a:prstGeom prst="rect">
            <a:avLst/>
          </a:prstGeom>
          <a:solidFill>
            <a:srgbClr val="1D1D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02920" y="3959352"/>
            <a:ext cx="20345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0,04 $</a:t>
            </a:r>
            <a:r>
              <a:rPr lang="en-US" sz="100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precio en 1980</a:t>
            </a:r>
            <a:endParaRPr lang="en-US" sz="1500"/>
          </a:p>
        </p:txBody>
      </p:sp>
      <p:sp>
        <p:nvSpPr>
          <p:cNvPr id="26" name="Text 24"/>
          <p:cNvSpPr/>
          <p:nvPr/>
        </p:nvSpPr>
        <p:spPr>
          <a:xfrm>
            <a:off x="2537460" y="3959352"/>
            <a:ext cx="20345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181,26 $</a:t>
            </a:r>
            <a:r>
              <a:rPr lang="en-US" sz="100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máximo histórico</a:t>
            </a:r>
            <a:endParaRPr lang="en-US" sz="1500"/>
          </a:p>
        </p:txBody>
      </p:sp>
      <p:sp>
        <p:nvSpPr>
          <p:cNvPr id="27" name="Shape 25"/>
          <p:cNvSpPr/>
          <p:nvPr/>
        </p:nvSpPr>
        <p:spPr>
          <a:xfrm>
            <a:off x="2537460" y="4142232"/>
            <a:ext cx="13716" cy="292608"/>
          </a:xfrm>
          <a:prstGeom prst="rect">
            <a:avLst/>
          </a:prstGeom>
          <a:solidFill>
            <a:srgbClr val="4848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572000" y="3959352"/>
            <a:ext cx="20345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10.559</a:t>
            </a:r>
            <a:r>
              <a:rPr lang="en-US" sz="100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sesiones</a:t>
            </a:r>
            <a:endParaRPr lang="en-US" sz="1500"/>
          </a:p>
        </p:txBody>
      </p:sp>
      <p:sp>
        <p:nvSpPr>
          <p:cNvPr id="29" name="Shape 27"/>
          <p:cNvSpPr/>
          <p:nvPr/>
        </p:nvSpPr>
        <p:spPr>
          <a:xfrm>
            <a:off x="4572000" y="4142232"/>
            <a:ext cx="13716" cy="292608"/>
          </a:xfrm>
          <a:prstGeom prst="rect">
            <a:avLst/>
          </a:prstGeom>
          <a:solidFill>
            <a:srgbClr val="4848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6606540" y="3959352"/>
            <a:ext cx="20345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r>
              <a:rPr lang="en-US" sz="100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años</a:t>
            </a:r>
            <a:endParaRPr lang="en-US" sz="1500"/>
          </a:p>
        </p:txBody>
      </p:sp>
      <p:sp>
        <p:nvSpPr>
          <p:cNvPr id="31" name="Shape 29"/>
          <p:cNvSpPr/>
          <p:nvPr/>
        </p:nvSpPr>
        <p:spPr>
          <a:xfrm>
            <a:off x="6606540" y="4142232"/>
            <a:ext cx="13716" cy="292608"/>
          </a:xfrm>
          <a:prstGeom prst="rect">
            <a:avLst/>
          </a:prstGeom>
          <a:solidFill>
            <a:srgbClr val="48484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502920" y="47594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Stock 1980–2022  ·  Laia Perez Blazquez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8229600" y="47594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2194560"/>
            <a:ext cx="4754880" cy="4754880"/>
          </a:xfrm>
          <a:prstGeom prst="ellipse">
            <a:avLst/>
          </a:prstGeom>
          <a:solidFill>
            <a:srgbClr val="2626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30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LLEVARSE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Apple no creció.</a:t>
            </a:r>
            <a:endParaRPr lang="en-US" sz="4000"/>
          </a:p>
          <a:p>
            <a:pPr marL="0" indent="0" algn="ctr">
              <a:buNone/>
            </a:pPr>
            <a:r>
              <a:rPr lang="en-US" sz="4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Apple se disparó.</a:t>
            </a:r>
            <a:endParaRPr lang="en-US" sz="4000"/>
          </a:p>
        </p:txBody>
      </p:sp>
      <p:sp>
        <p:nvSpPr>
          <p:cNvPr id="5" name="Text 3"/>
          <p:cNvSpPr/>
          <p:nvPr/>
        </p:nvSpPr>
        <p:spPr>
          <a:xfrm>
            <a:off x="1280160" y="285292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C7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lo hizo ganando solo cuatro días de cada cien más de los que perdía.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4206240" y="3493008"/>
            <a:ext cx="731520" cy="32004"/>
          </a:xfrm>
          <a:prstGeom prst="rect">
            <a:avLst/>
          </a:prstGeom>
          <a:solidFill>
            <a:srgbClr val="0071E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 ·  ¿Preguntas?</a:t>
            </a:r>
            <a:endParaRPr lang="en-US" sz="130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STOMLAYOUT" val="F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8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Apple en bolsa: 42 años de datos</dc:title>
  <dc:subject>PptxGenJS Presentation</dc:subject>
  <dc:creator>Laia Perez Blazquez</dc:creator>
  <cp:revision>1</cp:revision>
  <dcterms:created xsi:type="dcterms:W3CDTF">2026-09-17T12:05:39Z</dcterms:created>
  <dcterms:modified xsi:type="dcterms:W3CDTF">2026-09-17T14:43:57Z</dcterms:modified>
</cp:coreProperties>
</file>